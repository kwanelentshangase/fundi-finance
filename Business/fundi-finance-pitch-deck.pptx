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7A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626000</c:v>
                </c:pt>
                <c:pt idx="1">
                  <c:v>2144000</c:v>
                </c:pt>
                <c:pt idx="2">
                  <c:v>5785000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43530</c:v>
                </c:pt>
                <c:pt idx="1">
                  <c:v>428000</c:v>
                </c:pt>
                <c:pt idx="2">
                  <c:v>920000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8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 FINANCE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Money Make Sense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4572000" cy="0"/>
          </a:xfrm>
          <a:prstGeom prst="line">
            <a:avLst/>
          </a:prstGeom>
          <a:noFill/>
          <a:ln w="19050">
            <a:solidFill>
              <a:srgbClr val="C8EA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Duolingo-Style Financial Literacy for South Africa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Kwanele Ntshangase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Advisor | Founder | Advocate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007A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fundi-finance.vercel.app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731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Now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1737360"/>
          </a:xfrm>
          <a:prstGeom prst="rect">
            <a:avLst/>
          </a:prstGeom>
          <a:solidFill>
            <a:srgbClr val="007A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19202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literacy rate in SA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(World Bank 2022)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920240" cy="1737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68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468880" y="1719072"/>
            <a:ext cx="19202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paycheque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paycheque (OM 2023)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920240" cy="1737360"/>
          </a:xfrm>
          <a:prstGeom prst="rect">
            <a:avLst/>
          </a:prstGeom>
          <a:solidFill>
            <a:srgbClr val="007A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68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0" y="1719072"/>
            <a:ext cx="19202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Africans listed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debt defaults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822960"/>
            <a:ext cx="1920240" cy="1737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868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675120" y="1719072"/>
            <a:ext cx="19202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 for a comfortable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8412480" cy="1463040"/>
          </a:xfrm>
          <a:prstGeom prst="rect">
            <a:avLst/>
          </a:prstGeom>
          <a:solidFill>
            <a:srgbClr val="F0FA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91440" cy="1463040"/>
          </a:xfrm>
          <a:prstGeom prst="rect">
            <a:avLst/>
          </a:prstGeom>
          <a:solidFill>
            <a:srgbClr val="E03C3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 fail South Africans: school curricula are too academic, advisors too expensive, foreign apps ignore SA context (SARS, two-pot, Capitec, black tax), and online content has no accountability or progression. South Africa needs a homegrown, engaging, habit-forming financial education product.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 Finance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Duolingo-style financial literacy app built specifically for South Africans.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micro-lessons (XP, streaks, badges)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67712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SA-specific content: SARS, UIF, two-pot, black tax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15184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151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course categories — from budgets to derivatives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62656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626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profile quiz (conservative → aggressive)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10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leaderboard with other users' XP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 &amp; Finance course — unique in Africa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005072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005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calculator with compound interest charts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352544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3525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Cross-device progress sync via Supabase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777240"/>
            <a:ext cx="3017520" cy="4114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0720" y="777240"/>
            <a:ext cx="3017520" cy="457200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777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 Finance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1417320"/>
            <a:ext cx="2651760" cy="1280160"/>
          </a:xfrm>
          <a:prstGeom prst="rect">
            <a:avLst/>
          </a:prstGeom>
          <a:solidFill>
            <a:srgbClr val="1A30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Basics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Money?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2194560"/>
            <a:ext cx="2468880" cy="10972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6035040" y="2194560"/>
            <a:ext cx="1463040" cy="10972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 248  🔥 7  ♥♥♥♥♥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2788920"/>
            <a:ext cx="2651760" cy="292608"/>
          </a:xfrm>
          <a:prstGeom prst="rect">
            <a:avLst/>
          </a:prstGeom>
          <a:solidFill>
            <a:srgbClr val="1A403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788920"/>
            <a:ext cx="265176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Inflation explained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0" y="3136392"/>
            <a:ext cx="2651760" cy="292608"/>
          </a:xfrm>
          <a:prstGeom prst="rect">
            <a:avLst/>
          </a:prstGeom>
          <a:solidFill>
            <a:srgbClr val="1A4030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3136392"/>
            <a:ext cx="265176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Compound interest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3483864"/>
            <a:ext cx="2651760" cy="292608"/>
          </a:xfrm>
          <a:prstGeom prst="rect">
            <a:avLst/>
          </a:prstGeom>
          <a:solidFill>
            <a:srgbClr val="0F2518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0" y="3483864"/>
            <a:ext cx="265176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Needs vs Wants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560320" cy="2560320"/>
          </a:xfrm>
          <a:prstGeom prst="rect">
            <a:avLst/>
          </a:prstGeom>
          <a:solidFill>
            <a:srgbClr val="C8EAD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 Adults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822960"/>
            <a:ext cx="2560320" cy="2560320"/>
          </a:xfrm>
          <a:prstGeom prst="rect">
            <a:avLst/>
          </a:prstGeom>
          <a:solidFill>
            <a:srgbClr val="007A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05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3756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Smartphone-Owning Adults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822960"/>
            <a:ext cx="2560320" cy="25603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05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18–35, banked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8412480" cy="1371600"/>
          </a:xfrm>
          <a:prstGeom prst="rect">
            <a:avLst/>
          </a:prstGeom>
          <a:solidFill>
            <a:srgbClr val="F0F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007A4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EdTech market projected at $1.1B by 2027 (HolonIQ)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79392"/>
            <a:ext cx="164592" cy="164592"/>
          </a:xfrm>
          <a:prstGeom prst="ellipse">
            <a:avLst/>
          </a:prstGeom>
          <a:solidFill>
            <a:srgbClr val="007A4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Mobile-first: 94% of SA internet users access via smartphone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730752"/>
            <a:ext cx="164592" cy="164592"/>
          </a:xfrm>
          <a:prstGeom prst="ellipse">
            <a:avLst/>
          </a:prstGeom>
          <a:solidFill>
            <a:srgbClr val="007A4D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wellness is the fastest-growing employee benefit in SA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4279392"/>
            <a:ext cx="164592" cy="164592"/>
          </a:xfrm>
          <a:prstGeom prst="ellipse">
            <a:avLst/>
          </a:prstGeom>
          <a:solidFill>
            <a:srgbClr val="007A4D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First-salary earners (21–28): highest-value, longest-LTV segment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508760" cy="3108960"/>
          </a:xfrm>
          <a:prstGeom prst="rect">
            <a:avLst/>
          </a:prstGeom>
          <a:solidFill>
            <a:srgbClr val="007A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 Pro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2344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R79/mo  |  R699/yr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hearts, advanced courses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1 Target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R474K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57400" y="822960"/>
            <a:ext cx="1508760" cy="3108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91440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B2B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1645920"/>
            <a:ext cx="12344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73736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R200/employee/yr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50 seats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57400" y="2743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1 Target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5740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R60K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49040" y="822960"/>
            <a:ext cx="1508760" cy="3108960"/>
          </a:xfrm>
          <a:prstGeom prst="rect">
            <a:avLst/>
          </a:prstGeom>
          <a:solidFill>
            <a:srgbClr val="1A5C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91440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Generation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86200" y="1645920"/>
            <a:ext cx="12344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73736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R500–R2,500/referral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educated prospects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49040" y="2743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1 Target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4904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R20K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40680" y="822960"/>
            <a:ext cx="1508760" cy="3108960"/>
          </a:xfrm>
          <a:prstGeom prst="rect">
            <a:avLst/>
          </a:prstGeom>
          <a:solidFill>
            <a:srgbClr val="B58A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40680" y="91440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1645920"/>
            <a:ext cx="12344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173736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R15K–R50K/module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Banks, insurers, platforms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40680" y="2743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1 Target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4068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R0*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132320" y="822960"/>
            <a:ext cx="1508760" cy="3108960"/>
          </a:xfrm>
          <a:prstGeom prst="rect">
            <a:avLst/>
          </a:prstGeom>
          <a:solidFill>
            <a:srgbClr val="8B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0" y="91440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Masterclasses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69480" y="1645920"/>
            <a:ext cx="12344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173736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R350–R1,500/ticket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to app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32320" y="2743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1 Target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3232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R72K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Revenue Target: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29184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R626,000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858000" y="4114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 Margin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PROOF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 fundi-finance.vercel.app — now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course categories, 33+ lessons, 99+ 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gamification: XP, streaks, hearts, badges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Cross-device Supabase sync (login anywhere)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 leaderboard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profile quiz (5 risk types)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calculator with charts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 &amp; Finance — unique in African EdTech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777240"/>
            <a:ext cx="0" cy="4206240"/>
          </a:xfrm>
          <a:prstGeom prst="line">
            <a:avLst/>
          </a:prstGeom>
          <a:noFill/>
          <a:ln w="12700">
            <a:solidFill>
              <a:srgbClr val="007A4D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46320" y="12801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1234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Advisor — Liberty Group Ltd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7373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— The Solution Digital (agency)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1945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2148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@wealth.with.kwanele — 1,000+ engaged followers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6517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2606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financial literacy workshops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1089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063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budget speech series (viral SA content)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5661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3520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Fact-checked financial content creator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40233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3977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this product as a solution he needed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777240"/>
          <a:ext cx="3017520" cy="3291840"/>
        </p:xfrm>
        <a:graphic>
          <a:graphicData uri="http://schemas.openxmlformats.org/drawingml/2006/table">
            <a:tbl>
              <a:tblPr/>
              <a:tblGrid>
                <a:gridCol w="914400"/>
                <a:gridCol w="704088"/>
                <a:gridCol w="704088"/>
                <a:gridCol w="704088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R626K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R2.14M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R5.79M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R44K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R428K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R920K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Profit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R582K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R1.72M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R4.87M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F0FAF5"/>
          </a:solidFill>
          <a:ln/>
        </p:spPr>
      </p:sp>
      <p:sp>
        <p:nvSpPr>
          <p:cNvPr id="7" name="Shape 3"/>
          <p:cNvSpPr/>
          <p:nvPr/>
        </p:nvSpPr>
        <p:spPr>
          <a:xfrm>
            <a:off x="365760" y="4251960"/>
            <a:ext cx="73152" cy="6583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42976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profitability reflects a lean start: founder-built product, no salary drawn. From Year 2, founder begins drawing R15,000/month as focus shifts to full-time.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Funding Target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R300,000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runway to profitability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3364992" cy="1920240"/>
          </a:xfrm>
          <a:prstGeom prst="rect">
            <a:avLst/>
          </a:prstGeom>
          <a:solidFill>
            <a:srgbClr val="007A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0584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R120K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336499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Acquisition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165592" y="777240"/>
            <a:ext cx="1682496" cy="1920240"/>
          </a:xfrm>
          <a:prstGeom prst="rect">
            <a:avLst/>
          </a:prstGeom>
          <a:solidFill>
            <a:srgbClr val="FFB6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65592" y="100584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R60K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65592" y="1600200"/>
            <a:ext cx="1682496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Development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893808" y="777240"/>
            <a:ext cx="2020824" cy="1920240"/>
          </a:xfrm>
          <a:prstGeom prst="rect">
            <a:avLst/>
          </a:prstGeom>
          <a:solidFill>
            <a:srgbClr val="1A5C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893808" y="100584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R72K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93808" y="1600200"/>
            <a:ext cx="2020824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Salary (6m)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960352" y="777240"/>
            <a:ext cx="1344168" cy="1920240"/>
          </a:xfrm>
          <a:prstGeom prst="rect">
            <a:avLst/>
          </a:prstGeom>
          <a:solidFill>
            <a:srgbClr val="8B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960352" y="1005840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R48K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960352" y="1600200"/>
            <a:ext cx="1344168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Ops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8412480" cy="914400"/>
          </a:xfrm>
          <a:prstGeom prst="rect">
            <a:avLst/>
          </a:prstGeom>
          <a:solidFill>
            <a:srgbClr val="F0FAF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Offer: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337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up to 15%  |  Revenue share: 10% for 3 years  |  Advisory board seat  |  Access to growing SA user base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Non-financial support equally valued: corporate buyer introductions, regulatory guidance, media coverage, and strategic advisory.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874520"/>
          </a:xfrm>
          <a:prstGeom prst="rect">
            <a:avLst/>
          </a:prstGeom>
          <a:solidFill>
            <a:srgbClr val="0F1F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502920" cy="1874520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77240"/>
            <a:ext cx="411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8869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youth financial crisis is acute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youth unemployment, cost-of-living pressure, and over-indebtedness have created a generation desperately seeking financial answers — mostly finding them on social media.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114800" cy="1874520"/>
          </a:xfrm>
          <a:prstGeom prst="rect">
            <a:avLst/>
          </a:prstGeom>
          <a:solidFill>
            <a:srgbClr val="0F1F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77240"/>
            <a:ext cx="502920" cy="1874520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777240"/>
            <a:ext cx="411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8869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behaviour is here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28016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 of SA internet users are on smartphones. The infrastructure to reach 10 million people with a 3-minute lesson already exists in their pockets.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874520"/>
          </a:xfrm>
          <a:prstGeom prst="rect">
            <a:avLst/>
          </a:prstGeom>
          <a:solidFill>
            <a:srgbClr val="0F1F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502920" cy="1874520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880360"/>
            <a:ext cx="411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9900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SA-specific competitor exists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832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gamified, SA-specific, free financial literacy app. The window to establish the category standard is open right now.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14800" cy="1874520"/>
          </a:xfrm>
          <a:prstGeom prst="rect">
            <a:avLst/>
          </a:prstGeom>
          <a:solidFill>
            <a:srgbClr val="0F1F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502920" cy="1874520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880360"/>
            <a:ext cx="411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29900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already exists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3832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concept. Fundi Finance is live, tested, and growing. Funding accelerates — it does not create.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7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"Financial literacy is not a nice-to-have in South Africa.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difference between generational poverty and generational wealth."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2148840"/>
            <a:ext cx="2743200" cy="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This Together.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0" y="3291840"/>
            <a:ext cx="5486400" cy="1280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32918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Kwanele Ntshangase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wealthwithkwanele.co.za  |  fundi-finance.vercel.app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@wealth.with.kwanele  (TikTok &amp; LinkedIn)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Fundi Finance Pitch Deck</dc:title>
  <dc:subject>PptxGenJS Presentation</dc:subject>
  <dc:creator>Kwanele Ntshangase</dc:creator>
  <cp:lastModifiedBy>Kwanele Ntshangase</cp:lastModifiedBy>
  <cp:revision>1</cp:revision>
  <dcterms:created xsi:type="dcterms:W3CDTF">2026-03-20T23:19:28Z</dcterms:created>
  <dcterms:modified xsi:type="dcterms:W3CDTF">2026-03-20T23:19:28Z</dcterms:modified>
</cp:coreProperties>
</file>